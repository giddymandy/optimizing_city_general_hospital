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Curve</c:v>
                </c:pt>
              </c:strCache>
            </c:strRef>
          </c:tx>
          <c:spPr>
            <a:solidFill>
              <a:srgbClr val="CBD5E1"/>
            </a:solidFill>
            <a:ln w="3810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Sheet1!$A$2:$A$48</c:f>
              <c:multiLvlStrCache>
                <c:ptCount val="47"/>
                <c:lvl>
                  <c:pt idx="0">
                    <c:v>-3.50</c:v>
                  </c:pt>
                  <c:pt idx="1">
                    <c:v>-3.35</c:v>
                  </c:pt>
                  <c:pt idx="2">
                    <c:v>-3.20</c:v>
                  </c:pt>
                  <c:pt idx="3">
                    <c:v>-3.05</c:v>
                  </c:pt>
                  <c:pt idx="4">
                    <c:v>-2.90</c:v>
                  </c:pt>
                  <c:pt idx="5">
                    <c:v>-2.75</c:v>
                  </c:pt>
                  <c:pt idx="6">
                    <c:v>-2.60</c:v>
                  </c:pt>
                  <c:pt idx="7">
                    <c:v>-2.45</c:v>
                  </c:pt>
                  <c:pt idx="8">
                    <c:v>-2.30</c:v>
                  </c:pt>
                  <c:pt idx="9">
                    <c:v>-2.15</c:v>
                  </c:pt>
                  <c:pt idx="10">
                    <c:v>-2.00</c:v>
                  </c:pt>
                  <c:pt idx="11">
                    <c:v>-1.85</c:v>
                  </c:pt>
                  <c:pt idx="12">
                    <c:v>-1.70</c:v>
                  </c:pt>
                  <c:pt idx="13">
                    <c:v>-1.55</c:v>
                  </c:pt>
                  <c:pt idx="14">
                    <c:v>-1.40</c:v>
                  </c:pt>
                  <c:pt idx="15">
                    <c:v>-1.25</c:v>
                  </c:pt>
                  <c:pt idx="16">
                    <c:v>-1.10</c:v>
                  </c:pt>
                  <c:pt idx="17">
                    <c:v>-0.95</c:v>
                  </c:pt>
                  <c:pt idx="18">
                    <c:v>-0.80</c:v>
                  </c:pt>
                  <c:pt idx="19">
                    <c:v>-0.65</c:v>
                  </c:pt>
                  <c:pt idx="20">
                    <c:v>-0.50</c:v>
                  </c:pt>
                  <c:pt idx="21">
                    <c:v>-0.35</c:v>
                  </c:pt>
                  <c:pt idx="22">
                    <c:v>-0.20</c:v>
                  </c:pt>
                  <c:pt idx="23">
                    <c:v>-0.05</c:v>
                  </c:pt>
                  <c:pt idx="24">
                    <c:v>0.10</c:v>
                  </c:pt>
                  <c:pt idx="25">
                    <c:v>0.25</c:v>
                  </c:pt>
                  <c:pt idx="26">
                    <c:v>0.40</c:v>
                  </c:pt>
                  <c:pt idx="27">
                    <c:v>0.55</c:v>
                  </c:pt>
                  <c:pt idx="28">
                    <c:v>0.70</c:v>
                  </c:pt>
                  <c:pt idx="29">
                    <c:v>0.85</c:v>
                  </c:pt>
                  <c:pt idx="30">
                    <c:v>1.00</c:v>
                  </c:pt>
                  <c:pt idx="31">
                    <c:v>1.15</c:v>
                  </c:pt>
                  <c:pt idx="32">
                    <c:v>1.30</c:v>
                  </c:pt>
                  <c:pt idx="33">
                    <c:v>1.45</c:v>
                  </c:pt>
                  <c:pt idx="34">
                    <c:v>1.60</c:v>
                  </c:pt>
                  <c:pt idx="35">
                    <c:v>1.75</c:v>
                  </c:pt>
                  <c:pt idx="36">
                    <c:v>1.90</c:v>
                  </c:pt>
                  <c:pt idx="37">
                    <c:v>2.05</c:v>
                  </c:pt>
                  <c:pt idx="38">
                    <c:v>2.20</c:v>
                  </c:pt>
                  <c:pt idx="39">
                    <c:v>2.35</c:v>
                  </c:pt>
                  <c:pt idx="40">
                    <c:v>2.50</c:v>
                  </c:pt>
                  <c:pt idx="41">
                    <c:v>2.65</c:v>
                  </c:pt>
                  <c:pt idx="42">
                    <c:v>2.80</c:v>
                  </c:pt>
                  <c:pt idx="43">
                    <c:v>2.95</c:v>
                  </c:pt>
                  <c:pt idx="44">
                    <c:v>3.10</c:v>
                  </c:pt>
                  <c:pt idx="45">
                    <c:v>3.25</c:v>
                  </c:pt>
                  <c:pt idx="46">
                    <c:v>3.40</c:v>
                  </c:pt>
                </c:lvl>
              </c:multiLvlStrCache>
            </c:multiLvlStrRef>
          </c:cat>
          <c:val>
            <c:numRef>
              <c:f>Sheet1!$B$2:$B$48</c:f>
              <c:numCache>
                <c:formatCode>General</c:formatCode>
                <c:ptCount val="47"/>
                <c:pt idx="0">
                  <c:v>0.001</c:v>
                </c:pt>
                <c:pt idx="1">
                  <c:v>0.001</c:v>
                </c:pt>
                <c:pt idx="2">
                  <c:v>0.002</c:v>
                </c:pt>
                <c:pt idx="3">
                  <c:v>0.004</c:v>
                </c:pt>
                <c:pt idx="4">
                  <c:v>0.006</c:v>
                </c:pt>
                <c:pt idx="5">
                  <c:v>0.009</c:v>
                </c:pt>
                <c:pt idx="6">
                  <c:v>0.014</c:v>
                </c:pt>
                <c:pt idx="7">
                  <c:v>0.02</c:v>
                </c:pt>
                <c:pt idx="8">
                  <c:v>0.028</c:v>
                </c:pt>
                <c:pt idx="9">
                  <c:v>0.04</c:v>
                </c:pt>
                <c:pt idx="10">
                  <c:v>0.054</c:v>
                </c:pt>
                <c:pt idx="11">
                  <c:v>0.072</c:v>
                </c:pt>
                <c:pt idx="12">
                  <c:v>0.094</c:v>
                </c:pt>
                <c:pt idx="13">
                  <c:v>0.12</c:v>
                </c:pt>
                <c:pt idx="14">
                  <c:v>0.15</c:v>
                </c:pt>
                <c:pt idx="15">
                  <c:v>0.183</c:v>
                </c:pt>
                <c:pt idx="16">
                  <c:v>0.218</c:v>
                </c:pt>
                <c:pt idx="17">
                  <c:v>0.254</c:v>
                </c:pt>
                <c:pt idx="18">
                  <c:v>0.29</c:v>
                </c:pt>
                <c:pt idx="19">
                  <c:v>0.323</c:v>
                </c:pt>
                <c:pt idx="20">
                  <c:v>0.352</c:v>
                </c:pt>
                <c:pt idx="21">
                  <c:v>0.375</c:v>
                </c:pt>
                <c:pt idx="22">
                  <c:v>0.391</c:v>
                </c:pt>
                <c:pt idx="23">
                  <c:v>0.398</c:v>
                </c:pt>
                <c:pt idx="24">
                  <c:v>0.397</c:v>
                </c:pt>
                <c:pt idx="25">
                  <c:v>0.387</c:v>
                </c:pt>
                <c:pt idx="26">
                  <c:v>0.368</c:v>
                </c:pt>
                <c:pt idx="27">
                  <c:v>0.343</c:v>
                </c:pt>
                <c:pt idx="28">
                  <c:v>0.312</c:v>
                </c:pt>
                <c:pt idx="29">
                  <c:v>0.278</c:v>
                </c:pt>
                <c:pt idx="30">
                  <c:v>0.242</c:v>
                </c:pt>
                <c:pt idx="31">
                  <c:v>0.206</c:v>
                </c:pt>
                <c:pt idx="32">
                  <c:v>0.171</c:v>
                </c:pt>
                <c:pt idx="33">
                  <c:v>0.139</c:v>
                </c:pt>
                <c:pt idx="34">
                  <c:v>0.111</c:v>
                </c:pt>
                <c:pt idx="35">
                  <c:v>0.086</c:v>
                </c:pt>
                <c:pt idx="36">
                  <c:v>0.066</c:v>
                </c:pt>
                <c:pt idx="37">
                  <c:v>0.049</c:v>
                </c:pt>
                <c:pt idx="38">
                  <c:v>0.035</c:v>
                </c:pt>
                <c:pt idx="39">
                  <c:v>0.025</c:v>
                </c:pt>
                <c:pt idx="40">
                  <c:v>0.018</c:v>
                </c:pt>
                <c:pt idx="41">
                  <c:v>0.012</c:v>
                </c:pt>
                <c:pt idx="42">
                  <c:v>0.008</c:v>
                </c:pt>
                <c:pt idx="43">
                  <c:v>0.005</c:v>
                </c:pt>
                <c:pt idx="44">
                  <c:v>0.003</c:v>
                </c:pt>
                <c:pt idx="45">
                  <c:v>0.002</c:v>
                </c:pt>
                <c:pt idx="46">
                  <c:v>0.001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p-value (left tail)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Sheet1!$A$2:$A$48</c:f>
              <c:multiLvlStrCache>
                <c:ptCount val="47"/>
                <c:lvl>
                  <c:pt idx="0">
                    <c:v>-3.50</c:v>
                  </c:pt>
                  <c:pt idx="1">
                    <c:v>-3.35</c:v>
                  </c:pt>
                  <c:pt idx="2">
                    <c:v>-3.20</c:v>
                  </c:pt>
                  <c:pt idx="3">
                    <c:v>-3.05</c:v>
                  </c:pt>
                  <c:pt idx="4">
                    <c:v>-2.90</c:v>
                  </c:pt>
                  <c:pt idx="5">
                    <c:v>-2.75</c:v>
                  </c:pt>
                  <c:pt idx="6">
                    <c:v>-2.60</c:v>
                  </c:pt>
                  <c:pt idx="7">
                    <c:v>-2.45</c:v>
                  </c:pt>
                  <c:pt idx="8">
                    <c:v>-2.30</c:v>
                  </c:pt>
                  <c:pt idx="9">
                    <c:v>-2.15</c:v>
                  </c:pt>
                  <c:pt idx="10">
                    <c:v>-2.00</c:v>
                  </c:pt>
                  <c:pt idx="11">
                    <c:v>-1.85</c:v>
                  </c:pt>
                  <c:pt idx="12">
                    <c:v>-1.70</c:v>
                  </c:pt>
                  <c:pt idx="13">
                    <c:v>-1.55</c:v>
                  </c:pt>
                  <c:pt idx="14">
                    <c:v>-1.40</c:v>
                  </c:pt>
                  <c:pt idx="15">
                    <c:v>-1.25</c:v>
                  </c:pt>
                  <c:pt idx="16">
                    <c:v>-1.10</c:v>
                  </c:pt>
                  <c:pt idx="17">
                    <c:v>-0.95</c:v>
                  </c:pt>
                  <c:pt idx="18">
                    <c:v>-0.80</c:v>
                  </c:pt>
                  <c:pt idx="19">
                    <c:v>-0.65</c:v>
                  </c:pt>
                  <c:pt idx="20">
                    <c:v>-0.50</c:v>
                  </c:pt>
                  <c:pt idx="21">
                    <c:v>-0.35</c:v>
                  </c:pt>
                  <c:pt idx="22">
                    <c:v>-0.20</c:v>
                  </c:pt>
                  <c:pt idx="23">
                    <c:v>-0.05</c:v>
                  </c:pt>
                  <c:pt idx="24">
                    <c:v>0.10</c:v>
                  </c:pt>
                  <c:pt idx="25">
                    <c:v>0.25</c:v>
                  </c:pt>
                  <c:pt idx="26">
                    <c:v>0.40</c:v>
                  </c:pt>
                  <c:pt idx="27">
                    <c:v>0.55</c:v>
                  </c:pt>
                  <c:pt idx="28">
                    <c:v>0.70</c:v>
                  </c:pt>
                  <c:pt idx="29">
                    <c:v>0.85</c:v>
                  </c:pt>
                  <c:pt idx="30">
                    <c:v>1.00</c:v>
                  </c:pt>
                  <c:pt idx="31">
                    <c:v>1.15</c:v>
                  </c:pt>
                  <c:pt idx="32">
                    <c:v>1.30</c:v>
                  </c:pt>
                  <c:pt idx="33">
                    <c:v>1.45</c:v>
                  </c:pt>
                  <c:pt idx="34">
                    <c:v>1.60</c:v>
                  </c:pt>
                  <c:pt idx="35">
                    <c:v>1.75</c:v>
                  </c:pt>
                  <c:pt idx="36">
                    <c:v>1.90</c:v>
                  </c:pt>
                  <c:pt idx="37">
                    <c:v>2.05</c:v>
                  </c:pt>
                  <c:pt idx="38">
                    <c:v>2.20</c:v>
                  </c:pt>
                  <c:pt idx="39">
                    <c:v>2.35</c:v>
                  </c:pt>
                  <c:pt idx="40">
                    <c:v>2.50</c:v>
                  </c:pt>
                  <c:pt idx="41">
                    <c:v>2.65</c:v>
                  </c:pt>
                  <c:pt idx="42">
                    <c:v>2.80</c:v>
                  </c:pt>
                  <c:pt idx="43">
                    <c:v>2.95</c:v>
                  </c:pt>
                  <c:pt idx="44">
                    <c:v>3.10</c:v>
                  </c:pt>
                  <c:pt idx="45">
                    <c:v>3.25</c:v>
                  </c:pt>
                  <c:pt idx="46">
                    <c:v>3.40</c:v>
                  </c:pt>
                </c:lvl>
              </c:multiLvlStrCache>
            </c:multiLvlStrRef>
          </c:cat>
          <c:val>
            <c:numRef>
              <c:f>Sheet1!$C$2:$C$48</c:f>
              <c:numCache>
                <c:formatCode>General</c:formatCode>
                <c:ptCount val="47"/>
                <c:pt idx="0">
                  <c:v>0.001</c:v>
                </c:pt>
                <c:pt idx="1">
                  <c:v>0.001</c:v>
                </c:pt>
                <c:pt idx="2">
                  <c:v>0.002</c:v>
                </c:pt>
                <c:pt idx="3">
                  <c:v>0.004</c:v>
                </c:pt>
                <c:pt idx="4">
                  <c:v>0.006</c:v>
                </c:pt>
                <c:pt idx="5">
                  <c:v>0.009</c:v>
                </c:pt>
                <c:pt idx="6">
                  <c:v>0.014</c:v>
                </c:pt>
                <c:pt idx="7">
                  <c:v>0.02</c:v>
                </c:pt>
                <c:pt idx="8">
                  <c:v>0.028</c:v>
                </c:pt>
                <c:pt idx="9">
                  <c:v>0.04</c:v>
                </c:pt>
                <c:pt idx="10">
                  <c:v>0.054</c:v>
                </c:pt>
                <c:pt idx="11">
                  <c:v>0.072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p-value (right tail)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Sheet1!$A$2:$A$48</c:f>
              <c:multiLvlStrCache>
                <c:ptCount val="47"/>
                <c:lvl>
                  <c:pt idx="0">
                    <c:v>-3.50</c:v>
                  </c:pt>
                  <c:pt idx="1">
                    <c:v>-3.35</c:v>
                  </c:pt>
                  <c:pt idx="2">
                    <c:v>-3.20</c:v>
                  </c:pt>
                  <c:pt idx="3">
                    <c:v>-3.05</c:v>
                  </c:pt>
                  <c:pt idx="4">
                    <c:v>-2.90</c:v>
                  </c:pt>
                  <c:pt idx="5">
                    <c:v>-2.75</c:v>
                  </c:pt>
                  <c:pt idx="6">
                    <c:v>-2.60</c:v>
                  </c:pt>
                  <c:pt idx="7">
                    <c:v>-2.45</c:v>
                  </c:pt>
                  <c:pt idx="8">
                    <c:v>-2.30</c:v>
                  </c:pt>
                  <c:pt idx="9">
                    <c:v>-2.15</c:v>
                  </c:pt>
                  <c:pt idx="10">
                    <c:v>-2.00</c:v>
                  </c:pt>
                  <c:pt idx="11">
                    <c:v>-1.85</c:v>
                  </c:pt>
                  <c:pt idx="12">
                    <c:v>-1.70</c:v>
                  </c:pt>
                  <c:pt idx="13">
                    <c:v>-1.55</c:v>
                  </c:pt>
                  <c:pt idx="14">
                    <c:v>-1.40</c:v>
                  </c:pt>
                  <c:pt idx="15">
                    <c:v>-1.25</c:v>
                  </c:pt>
                  <c:pt idx="16">
                    <c:v>-1.10</c:v>
                  </c:pt>
                  <c:pt idx="17">
                    <c:v>-0.95</c:v>
                  </c:pt>
                  <c:pt idx="18">
                    <c:v>-0.80</c:v>
                  </c:pt>
                  <c:pt idx="19">
                    <c:v>-0.65</c:v>
                  </c:pt>
                  <c:pt idx="20">
                    <c:v>-0.50</c:v>
                  </c:pt>
                  <c:pt idx="21">
                    <c:v>-0.35</c:v>
                  </c:pt>
                  <c:pt idx="22">
                    <c:v>-0.20</c:v>
                  </c:pt>
                  <c:pt idx="23">
                    <c:v>-0.05</c:v>
                  </c:pt>
                  <c:pt idx="24">
                    <c:v>0.10</c:v>
                  </c:pt>
                  <c:pt idx="25">
                    <c:v>0.25</c:v>
                  </c:pt>
                  <c:pt idx="26">
                    <c:v>0.40</c:v>
                  </c:pt>
                  <c:pt idx="27">
                    <c:v>0.55</c:v>
                  </c:pt>
                  <c:pt idx="28">
                    <c:v>0.70</c:v>
                  </c:pt>
                  <c:pt idx="29">
                    <c:v>0.85</c:v>
                  </c:pt>
                  <c:pt idx="30">
                    <c:v>1.00</c:v>
                  </c:pt>
                  <c:pt idx="31">
                    <c:v>1.15</c:v>
                  </c:pt>
                  <c:pt idx="32">
                    <c:v>1.30</c:v>
                  </c:pt>
                  <c:pt idx="33">
                    <c:v>1.45</c:v>
                  </c:pt>
                  <c:pt idx="34">
                    <c:v>1.60</c:v>
                  </c:pt>
                  <c:pt idx="35">
                    <c:v>1.75</c:v>
                  </c:pt>
                  <c:pt idx="36">
                    <c:v>1.90</c:v>
                  </c:pt>
                  <c:pt idx="37">
                    <c:v>2.05</c:v>
                  </c:pt>
                  <c:pt idx="38">
                    <c:v>2.20</c:v>
                  </c:pt>
                  <c:pt idx="39">
                    <c:v>2.35</c:v>
                  </c:pt>
                  <c:pt idx="40">
                    <c:v>2.50</c:v>
                  </c:pt>
                  <c:pt idx="41">
                    <c:v>2.65</c:v>
                  </c:pt>
                  <c:pt idx="42">
                    <c:v>2.80</c:v>
                  </c:pt>
                  <c:pt idx="43">
                    <c:v>2.95</c:v>
                  </c:pt>
                  <c:pt idx="44">
                    <c:v>3.10</c:v>
                  </c:pt>
                  <c:pt idx="45">
                    <c:v>3.25</c:v>
                  </c:pt>
                  <c:pt idx="46">
                    <c:v>3.40</c:v>
                  </c:pt>
                </c:lvl>
              </c:multiLvlStrCache>
            </c:multiLvlStrRef>
          </c:cat>
          <c:val>
            <c:numRef>
              <c:f>Sheet1!$D$2:$D$48</c:f>
              <c:numCache>
                <c:formatCode>General</c:formatCode>
                <c:ptCount val="4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0.066</c:v>
                </c:pt>
                <c:pt idx="37">
                  <c:v>0.049</c:v>
                </c:pt>
                <c:pt idx="38">
                  <c:v>0.035</c:v>
                </c:pt>
                <c:pt idx="39">
                  <c:v>0.025</c:v>
                </c:pt>
                <c:pt idx="40">
                  <c:v>0.018</c:v>
                </c:pt>
                <c:pt idx="41">
                  <c:v>0.012</c:v>
                </c:pt>
                <c:pt idx="42">
                  <c:v>0.008</c:v>
                </c:pt>
                <c:pt idx="43">
                  <c:v>0.005</c:v>
                </c:pt>
                <c:pt idx="44">
                  <c:v>0.003</c:v>
                </c:pt>
                <c:pt idx="45">
                  <c:v>0.002</c:v>
                </c:pt>
                <c:pt idx="46">
                  <c:v>0.001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Rejection Region (α/2)</c:v>
                </c:pt>
              </c:strCache>
            </c:strRef>
          </c:tx>
          <c:spPr>
            <a:solidFill>
              <a:srgbClr val="E05C3A"/>
            </a:solidFill>
            <a:ln w="38100" cap="flat">
              <a:solidFill>
                <a:srgbClr val="E05C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C3A"/>
              </a:solidFill>
              <a:ln w="9525" cap="flat">
                <a:solidFill>
                  <a:srgbClr val="E05C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Sheet1!$A$2:$A$48</c:f>
              <c:multiLvlStrCache>
                <c:ptCount val="47"/>
                <c:lvl>
                  <c:pt idx="0">
                    <c:v>-3.50</c:v>
                  </c:pt>
                  <c:pt idx="1">
                    <c:v>-3.35</c:v>
                  </c:pt>
                  <c:pt idx="2">
                    <c:v>-3.20</c:v>
                  </c:pt>
                  <c:pt idx="3">
                    <c:v>-3.05</c:v>
                  </c:pt>
                  <c:pt idx="4">
                    <c:v>-2.90</c:v>
                  </c:pt>
                  <c:pt idx="5">
                    <c:v>-2.75</c:v>
                  </c:pt>
                  <c:pt idx="6">
                    <c:v>-2.60</c:v>
                  </c:pt>
                  <c:pt idx="7">
                    <c:v>-2.45</c:v>
                  </c:pt>
                  <c:pt idx="8">
                    <c:v>-2.30</c:v>
                  </c:pt>
                  <c:pt idx="9">
                    <c:v>-2.15</c:v>
                  </c:pt>
                  <c:pt idx="10">
                    <c:v>-2.00</c:v>
                  </c:pt>
                  <c:pt idx="11">
                    <c:v>-1.85</c:v>
                  </c:pt>
                  <c:pt idx="12">
                    <c:v>-1.70</c:v>
                  </c:pt>
                  <c:pt idx="13">
                    <c:v>-1.55</c:v>
                  </c:pt>
                  <c:pt idx="14">
                    <c:v>-1.40</c:v>
                  </c:pt>
                  <c:pt idx="15">
                    <c:v>-1.25</c:v>
                  </c:pt>
                  <c:pt idx="16">
                    <c:v>-1.10</c:v>
                  </c:pt>
                  <c:pt idx="17">
                    <c:v>-0.95</c:v>
                  </c:pt>
                  <c:pt idx="18">
                    <c:v>-0.80</c:v>
                  </c:pt>
                  <c:pt idx="19">
                    <c:v>-0.65</c:v>
                  </c:pt>
                  <c:pt idx="20">
                    <c:v>-0.50</c:v>
                  </c:pt>
                  <c:pt idx="21">
                    <c:v>-0.35</c:v>
                  </c:pt>
                  <c:pt idx="22">
                    <c:v>-0.20</c:v>
                  </c:pt>
                  <c:pt idx="23">
                    <c:v>-0.05</c:v>
                  </c:pt>
                  <c:pt idx="24">
                    <c:v>0.10</c:v>
                  </c:pt>
                  <c:pt idx="25">
                    <c:v>0.25</c:v>
                  </c:pt>
                  <c:pt idx="26">
                    <c:v>0.40</c:v>
                  </c:pt>
                  <c:pt idx="27">
                    <c:v>0.55</c:v>
                  </c:pt>
                  <c:pt idx="28">
                    <c:v>0.70</c:v>
                  </c:pt>
                  <c:pt idx="29">
                    <c:v>0.85</c:v>
                  </c:pt>
                  <c:pt idx="30">
                    <c:v>1.00</c:v>
                  </c:pt>
                  <c:pt idx="31">
                    <c:v>1.15</c:v>
                  </c:pt>
                  <c:pt idx="32">
                    <c:v>1.30</c:v>
                  </c:pt>
                  <c:pt idx="33">
                    <c:v>1.45</c:v>
                  </c:pt>
                  <c:pt idx="34">
                    <c:v>1.60</c:v>
                  </c:pt>
                  <c:pt idx="35">
                    <c:v>1.75</c:v>
                  </c:pt>
                  <c:pt idx="36">
                    <c:v>1.90</c:v>
                  </c:pt>
                  <c:pt idx="37">
                    <c:v>2.05</c:v>
                  </c:pt>
                  <c:pt idx="38">
                    <c:v>2.20</c:v>
                  </c:pt>
                  <c:pt idx="39">
                    <c:v>2.35</c:v>
                  </c:pt>
                  <c:pt idx="40">
                    <c:v>2.50</c:v>
                  </c:pt>
                  <c:pt idx="41">
                    <c:v>2.65</c:v>
                  </c:pt>
                  <c:pt idx="42">
                    <c:v>2.80</c:v>
                  </c:pt>
                  <c:pt idx="43">
                    <c:v>2.95</c:v>
                  </c:pt>
                  <c:pt idx="44">
                    <c:v>3.10</c:v>
                  </c:pt>
                  <c:pt idx="45">
                    <c:v>3.25</c:v>
                  </c:pt>
                  <c:pt idx="46">
                    <c:v>3.40</c:v>
                  </c:pt>
                </c:lvl>
              </c:multiLvlStrCache>
            </c:multiLvlStrRef>
          </c:cat>
          <c:val>
            <c:numRef>
              <c:f>Sheet1!$E$2:$E$48</c:f>
              <c:numCache>
                <c:formatCode>General</c:formatCode>
                <c:ptCount val="47"/>
                <c:pt idx="0">
                  <c:v>0.001</c:v>
                </c:pt>
                <c:pt idx="1">
                  <c:v>0.001</c:v>
                </c:pt>
                <c:pt idx="2">
                  <c:v>0.002</c:v>
                </c:pt>
                <c:pt idx="3">
                  <c:v>0.004</c:v>
                </c:pt>
                <c:pt idx="4">
                  <c:v>0.006</c:v>
                </c:pt>
                <c:pt idx="5">
                  <c:v>0.009</c:v>
                </c:pt>
                <c:pt idx="6">
                  <c:v>0.014</c:v>
                </c:pt>
                <c:pt idx="7">
                  <c:v>0.02</c:v>
                </c:pt>
                <c:pt idx="8">
                  <c:v>0.028</c:v>
                </c:pt>
                <c:pt idx="9">
                  <c:v>0.04</c:v>
                </c:pt>
                <c:pt idx="10">
                  <c:v>0.054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Z-Score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Probability Density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Normal (df=∞)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-4.0</c:v>
                  </c:pt>
                  <c:pt idx="1">
                    <c:v>-3.8</c:v>
                  </c:pt>
                  <c:pt idx="2">
                    <c:v>-3.6</c:v>
                  </c:pt>
                  <c:pt idx="3">
                    <c:v>-3.4</c:v>
                  </c:pt>
                  <c:pt idx="4">
                    <c:v>-3.2</c:v>
                  </c:pt>
                  <c:pt idx="5">
                    <c:v>-3.0</c:v>
                  </c:pt>
                  <c:pt idx="6">
                    <c:v>-2.8</c:v>
                  </c:pt>
                  <c:pt idx="7">
                    <c:v>-2.6</c:v>
                  </c:pt>
                  <c:pt idx="8">
                    <c:v>-2.4</c:v>
                  </c:pt>
                  <c:pt idx="9">
                    <c:v>-2.2</c:v>
                  </c:pt>
                  <c:pt idx="10">
                    <c:v>-2.0</c:v>
                  </c:pt>
                  <c:pt idx="11">
                    <c:v>-1.8</c:v>
                  </c:pt>
                  <c:pt idx="12">
                    <c:v>-1.6</c:v>
                  </c:pt>
                  <c:pt idx="13">
                    <c:v>-1.4</c:v>
                  </c:pt>
                  <c:pt idx="14">
                    <c:v>-1.2</c:v>
                  </c:pt>
                  <c:pt idx="15">
                    <c:v>-1.0</c:v>
                  </c:pt>
                  <c:pt idx="16">
                    <c:v>-0.8</c:v>
                  </c:pt>
                  <c:pt idx="17">
                    <c:v>-0.6</c:v>
                  </c:pt>
                  <c:pt idx="18">
                    <c:v>-0.4</c:v>
                  </c:pt>
                  <c:pt idx="19">
                    <c:v>-0.2</c:v>
                  </c:pt>
                  <c:pt idx="20">
                    <c:v>0.0</c:v>
                  </c:pt>
                  <c:pt idx="21">
                    <c:v>0.2</c:v>
                  </c:pt>
                  <c:pt idx="22">
                    <c:v>0.4</c:v>
                  </c:pt>
                  <c:pt idx="23">
                    <c:v>0.6</c:v>
                  </c:pt>
                  <c:pt idx="24">
                    <c:v>0.8</c:v>
                  </c:pt>
                  <c:pt idx="25">
                    <c:v>1.0</c:v>
                  </c:pt>
                  <c:pt idx="26">
                    <c:v>1.2</c:v>
                  </c:pt>
                  <c:pt idx="27">
                    <c:v>1.4</c:v>
                  </c:pt>
                  <c:pt idx="28">
                    <c:v>1.6</c:v>
                  </c:pt>
                  <c:pt idx="29">
                    <c:v>1.8</c:v>
                  </c:pt>
                  <c:pt idx="30">
                    <c:v>2.0</c:v>
                  </c:pt>
                  <c:pt idx="31">
                    <c:v>2.2</c:v>
                  </c:pt>
                  <c:pt idx="32">
                    <c:v>2.4</c:v>
                  </c:pt>
                  <c:pt idx="33">
                    <c:v>2.6</c:v>
                  </c:pt>
                  <c:pt idx="34">
                    <c:v>2.8</c:v>
                  </c:pt>
                  <c:pt idx="35">
                    <c:v>3.0</c:v>
                  </c:pt>
                  <c:pt idx="36">
                    <c:v>3.2</c:v>
                  </c:pt>
                  <c:pt idx="37">
                    <c:v>3.4</c:v>
                  </c:pt>
                  <c:pt idx="38">
                    <c:v>3.6</c:v>
                  </c:pt>
                  <c:pt idx="39">
                    <c:v>3.8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</c:v>
                </c:pt>
                <c:pt idx="1">
                  <c:v>0</c:v>
                </c:pt>
                <c:pt idx="2">
                  <c:v>0.001</c:v>
                </c:pt>
                <c:pt idx="3">
                  <c:v>0.001</c:v>
                </c:pt>
                <c:pt idx="4">
                  <c:v>0.002</c:v>
                </c:pt>
                <c:pt idx="5">
                  <c:v>0.004</c:v>
                </c:pt>
                <c:pt idx="6">
                  <c:v>0.008</c:v>
                </c:pt>
                <c:pt idx="7">
                  <c:v>0.014</c:v>
                </c:pt>
                <c:pt idx="8">
                  <c:v>0.022</c:v>
                </c:pt>
                <c:pt idx="9">
                  <c:v>0.035</c:v>
                </c:pt>
                <c:pt idx="10">
                  <c:v>0.054</c:v>
                </c:pt>
                <c:pt idx="11">
                  <c:v>0.079</c:v>
                </c:pt>
                <c:pt idx="12">
                  <c:v>0.111</c:v>
                </c:pt>
                <c:pt idx="13">
                  <c:v>0.15</c:v>
                </c:pt>
                <c:pt idx="14">
                  <c:v>0.194</c:v>
                </c:pt>
                <c:pt idx="15">
                  <c:v>0.242</c:v>
                </c:pt>
                <c:pt idx="16">
                  <c:v>0.29</c:v>
                </c:pt>
                <c:pt idx="17">
                  <c:v>0.333</c:v>
                </c:pt>
                <c:pt idx="18">
                  <c:v>0.368</c:v>
                </c:pt>
                <c:pt idx="19">
                  <c:v>0.391</c:v>
                </c:pt>
                <c:pt idx="20">
                  <c:v>0.399</c:v>
                </c:pt>
                <c:pt idx="21">
                  <c:v>0.391</c:v>
                </c:pt>
                <c:pt idx="22">
                  <c:v>0.368</c:v>
                </c:pt>
                <c:pt idx="23">
                  <c:v>0.333</c:v>
                </c:pt>
                <c:pt idx="24">
                  <c:v>0.29</c:v>
                </c:pt>
                <c:pt idx="25">
                  <c:v>0.242</c:v>
                </c:pt>
                <c:pt idx="26">
                  <c:v>0.194</c:v>
                </c:pt>
                <c:pt idx="27">
                  <c:v>0.15</c:v>
                </c:pt>
                <c:pt idx="28">
                  <c:v>0.111</c:v>
                </c:pt>
                <c:pt idx="29">
                  <c:v>0.079</c:v>
                </c:pt>
                <c:pt idx="30">
                  <c:v>0.054</c:v>
                </c:pt>
                <c:pt idx="31">
                  <c:v>0.035</c:v>
                </c:pt>
                <c:pt idx="32">
                  <c:v>0.022</c:v>
                </c:pt>
                <c:pt idx="33">
                  <c:v>0.014</c:v>
                </c:pt>
                <c:pt idx="34">
                  <c:v>0.008</c:v>
                </c:pt>
                <c:pt idx="35">
                  <c:v>0.004</c:v>
                </c:pt>
                <c:pt idx="36">
                  <c:v>0.002</c:v>
                </c:pt>
                <c:pt idx="37">
                  <c:v>0.001</c:v>
                </c:pt>
                <c:pt idx="38">
                  <c:v>0.001</c:v>
                </c:pt>
                <c:pt idx="39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t-distribution (df=5)</c:v>
                </c:pt>
              </c:strCache>
            </c:strRef>
          </c:tx>
          <c:spPr>
            <a:solidFill>
              <a:srgbClr val="E05C3A"/>
            </a:solidFill>
            <a:ln w="38100" cap="flat">
              <a:solidFill>
                <a:srgbClr val="E05C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C3A"/>
              </a:solidFill>
              <a:ln w="9525" cap="flat">
                <a:solidFill>
                  <a:srgbClr val="E05C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-4.0</c:v>
                  </c:pt>
                  <c:pt idx="1">
                    <c:v>-3.8</c:v>
                  </c:pt>
                  <c:pt idx="2">
                    <c:v>-3.6</c:v>
                  </c:pt>
                  <c:pt idx="3">
                    <c:v>-3.4</c:v>
                  </c:pt>
                  <c:pt idx="4">
                    <c:v>-3.2</c:v>
                  </c:pt>
                  <c:pt idx="5">
                    <c:v>-3.0</c:v>
                  </c:pt>
                  <c:pt idx="6">
                    <c:v>-2.8</c:v>
                  </c:pt>
                  <c:pt idx="7">
                    <c:v>-2.6</c:v>
                  </c:pt>
                  <c:pt idx="8">
                    <c:v>-2.4</c:v>
                  </c:pt>
                  <c:pt idx="9">
                    <c:v>-2.2</c:v>
                  </c:pt>
                  <c:pt idx="10">
                    <c:v>-2.0</c:v>
                  </c:pt>
                  <c:pt idx="11">
                    <c:v>-1.8</c:v>
                  </c:pt>
                  <c:pt idx="12">
                    <c:v>-1.6</c:v>
                  </c:pt>
                  <c:pt idx="13">
                    <c:v>-1.4</c:v>
                  </c:pt>
                  <c:pt idx="14">
                    <c:v>-1.2</c:v>
                  </c:pt>
                  <c:pt idx="15">
                    <c:v>-1.0</c:v>
                  </c:pt>
                  <c:pt idx="16">
                    <c:v>-0.8</c:v>
                  </c:pt>
                  <c:pt idx="17">
                    <c:v>-0.6</c:v>
                  </c:pt>
                  <c:pt idx="18">
                    <c:v>-0.4</c:v>
                  </c:pt>
                  <c:pt idx="19">
                    <c:v>-0.2</c:v>
                  </c:pt>
                  <c:pt idx="20">
                    <c:v>0.0</c:v>
                  </c:pt>
                  <c:pt idx="21">
                    <c:v>0.2</c:v>
                  </c:pt>
                  <c:pt idx="22">
                    <c:v>0.4</c:v>
                  </c:pt>
                  <c:pt idx="23">
                    <c:v>0.6</c:v>
                  </c:pt>
                  <c:pt idx="24">
                    <c:v>0.8</c:v>
                  </c:pt>
                  <c:pt idx="25">
                    <c:v>1.0</c:v>
                  </c:pt>
                  <c:pt idx="26">
                    <c:v>1.2</c:v>
                  </c:pt>
                  <c:pt idx="27">
                    <c:v>1.4</c:v>
                  </c:pt>
                  <c:pt idx="28">
                    <c:v>1.6</c:v>
                  </c:pt>
                  <c:pt idx="29">
                    <c:v>1.8</c:v>
                  </c:pt>
                  <c:pt idx="30">
                    <c:v>2.0</c:v>
                  </c:pt>
                  <c:pt idx="31">
                    <c:v>2.2</c:v>
                  </c:pt>
                  <c:pt idx="32">
                    <c:v>2.4</c:v>
                  </c:pt>
                  <c:pt idx="33">
                    <c:v>2.6</c:v>
                  </c:pt>
                  <c:pt idx="34">
                    <c:v>2.8</c:v>
                  </c:pt>
                  <c:pt idx="35">
                    <c:v>3.0</c:v>
                  </c:pt>
                  <c:pt idx="36">
                    <c:v>3.2</c:v>
                  </c:pt>
                  <c:pt idx="37">
                    <c:v>3.4</c:v>
                  </c:pt>
                  <c:pt idx="38">
                    <c:v>3.6</c:v>
                  </c:pt>
                  <c:pt idx="39">
                    <c:v>3.8</c:v>
                  </c:pt>
                </c:lvl>
              </c:multiLvlStrCache>
            </c:multiLvl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0.005</c:v>
                </c:pt>
                <c:pt idx="1">
                  <c:v>0.006</c:v>
                </c:pt>
                <c:pt idx="2">
                  <c:v>0.008</c:v>
                </c:pt>
                <c:pt idx="3">
                  <c:v>0.01</c:v>
                </c:pt>
                <c:pt idx="4">
                  <c:v>0.013</c:v>
                </c:pt>
                <c:pt idx="5">
                  <c:v>0.017</c:v>
                </c:pt>
                <c:pt idx="6">
                  <c:v>0.022</c:v>
                </c:pt>
                <c:pt idx="7">
                  <c:v>0.029</c:v>
                </c:pt>
                <c:pt idx="8">
                  <c:v>0.038</c:v>
                </c:pt>
                <c:pt idx="9">
                  <c:v>0.05</c:v>
                </c:pt>
                <c:pt idx="10">
                  <c:v>0.065</c:v>
                </c:pt>
                <c:pt idx="11">
                  <c:v>0.085</c:v>
                </c:pt>
                <c:pt idx="12">
                  <c:v>0.11</c:v>
                </c:pt>
                <c:pt idx="13">
                  <c:v>0.141</c:v>
                </c:pt>
                <c:pt idx="14">
                  <c:v>0.178</c:v>
                </c:pt>
                <c:pt idx="15">
                  <c:v>0.22</c:v>
                </c:pt>
                <c:pt idx="16">
                  <c:v>0.264</c:v>
                </c:pt>
                <c:pt idx="17">
                  <c:v>0.308</c:v>
                </c:pt>
                <c:pt idx="18">
                  <c:v>0.345</c:v>
                </c:pt>
                <c:pt idx="19">
                  <c:v>0.371</c:v>
                </c:pt>
                <c:pt idx="20">
                  <c:v>0.38</c:v>
                </c:pt>
                <c:pt idx="21">
                  <c:v>0.371</c:v>
                </c:pt>
                <c:pt idx="22">
                  <c:v>0.345</c:v>
                </c:pt>
                <c:pt idx="23">
                  <c:v>0.308</c:v>
                </c:pt>
                <c:pt idx="24">
                  <c:v>0.264</c:v>
                </c:pt>
                <c:pt idx="25">
                  <c:v>0.22</c:v>
                </c:pt>
                <c:pt idx="26">
                  <c:v>0.178</c:v>
                </c:pt>
                <c:pt idx="27">
                  <c:v>0.141</c:v>
                </c:pt>
                <c:pt idx="28">
                  <c:v>0.11</c:v>
                </c:pt>
                <c:pt idx="29">
                  <c:v>0.085</c:v>
                </c:pt>
                <c:pt idx="30">
                  <c:v>0.065</c:v>
                </c:pt>
                <c:pt idx="31">
                  <c:v>0.05</c:v>
                </c:pt>
                <c:pt idx="32">
                  <c:v>0.038</c:v>
                </c:pt>
                <c:pt idx="33">
                  <c:v>0.029</c:v>
                </c:pt>
                <c:pt idx="34">
                  <c:v>0.022</c:v>
                </c:pt>
                <c:pt idx="35">
                  <c:v>0.017</c:v>
                </c:pt>
                <c:pt idx="36">
                  <c:v>0.013</c:v>
                </c:pt>
                <c:pt idx="37">
                  <c:v>0.01</c:v>
                </c:pt>
                <c:pt idx="38">
                  <c:v>0.008</c:v>
                </c:pt>
                <c:pt idx="39">
                  <c:v>0.006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t-distribution (df=30)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-4.0</c:v>
                  </c:pt>
                  <c:pt idx="1">
                    <c:v>-3.8</c:v>
                  </c:pt>
                  <c:pt idx="2">
                    <c:v>-3.6</c:v>
                  </c:pt>
                  <c:pt idx="3">
                    <c:v>-3.4</c:v>
                  </c:pt>
                  <c:pt idx="4">
                    <c:v>-3.2</c:v>
                  </c:pt>
                  <c:pt idx="5">
                    <c:v>-3.0</c:v>
                  </c:pt>
                  <c:pt idx="6">
                    <c:v>-2.8</c:v>
                  </c:pt>
                  <c:pt idx="7">
                    <c:v>-2.6</c:v>
                  </c:pt>
                  <c:pt idx="8">
                    <c:v>-2.4</c:v>
                  </c:pt>
                  <c:pt idx="9">
                    <c:v>-2.2</c:v>
                  </c:pt>
                  <c:pt idx="10">
                    <c:v>-2.0</c:v>
                  </c:pt>
                  <c:pt idx="11">
                    <c:v>-1.8</c:v>
                  </c:pt>
                  <c:pt idx="12">
                    <c:v>-1.6</c:v>
                  </c:pt>
                  <c:pt idx="13">
                    <c:v>-1.4</c:v>
                  </c:pt>
                  <c:pt idx="14">
                    <c:v>-1.2</c:v>
                  </c:pt>
                  <c:pt idx="15">
                    <c:v>-1.0</c:v>
                  </c:pt>
                  <c:pt idx="16">
                    <c:v>-0.8</c:v>
                  </c:pt>
                  <c:pt idx="17">
                    <c:v>-0.6</c:v>
                  </c:pt>
                  <c:pt idx="18">
                    <c:v>-0.4</c:v>
                  </c:pt>
                  <c:pt idx="19">
                    <c:v>-0.2</c:v>
                  </c:pt>
                  <c:pt idx="20">
                    <c:v>0.0</c:v>
                  </c:pt>
                  <c:pt idx="21">
                    <c:v>0.2</c:v>
                  </c:pt>
                  <c:pt idx="22">
                    <c:v>0.4</c:v>
                  </c:pt>
                  <c:pt idx="23">
                    <c:v>0.6</c:v>
                  </c:pt>
                  <c:pt idx="24">
                    <c:v>0.8</c:v>
                  </c:pt>
                  <c:pt idx="25">
                    <c:v>1.0</c:v>
                  </c:pt>
                  <c:pt idx="26">
                    <c:v>1.2</c:v>
                  </c:pt>
                  <c:pt idx="27">
                    <c:v>1.4</c:v>
                  </c:pt>
                  <c:pt idx="28">
                    <c:v>1.6</c:v>
                  </c:pt>
                  <c:pt idx="29">
                    <c:v>1.8</c:v>
                  </c:pt>
                  <c:pt idx="30">
                    <c:v>2.0</c:v>
                  </c:pt>
                  <c:pt idx="31">
                    <c:v>2.2</c:v>
                  </c:pt>
                  <c:pt idx="32">
                    <c:v>2.4</c:v>
                  </c:pt>
                  <c:pt idx="33">
                    <c:v>2.6</c:v>
                  </c:pt>
                  <c:pt idx="34">
                    <c:v>2.8</c:v>
                  </c:pt>
                  <c:pt idx="35">
                    <c:v>3.0</c:v>
                  </c:pt>
                  <c:pt idx="36">
                    <c:v>3.2</c:v>
                  </c:pt>
                  <c:pt idx="37">
                    <c:v>3.4</c:v>
                  </c:pt>
                  <c:pt idx="38">
                    <c:v>3.6</c:v>
                  </c:pt>
                  <c:pt idx="39">
                    <c:v>3.8</c:v>
                  </c:pt>
                </c:lvl>
              </c:multiLvlStrCache>
            </c:multiLvlStrRef>
          </c:cat>
          <c:val>
            <c:numRef>
              <c:f>Sheet1!$D$2:$D$41</c:f>
              <c:numCache>
                <c:formatCode>General</c:formatCode>
                <c:ptCount val="40"/>
                <c:pt idx="0">
                  <c:v>0.001</c:v>
                </c:pt>
                <c:pt idx="1">
                  <c:v>0.001</c:v>
                </c:pt>
                <c:pt idx="2">
                  <c:v>0.002</c:v>
                </c:pt>
                <c:pt idx="3">
                  <c:v>0.003</c:v>
                </c:pt>
                <c:pt idx="4">
                  <c:v>0.004</c:v>
                </c:pt>
                <c:pt idx="5">
                  <c:v>0.007</c:v>
                </c:pt>
                <c:pt idx="6">
                  <c:v>0.011</c:v>
                </c:pt>
                <c:pt idx="7">
                  <c:v>0.017</c:v>
                </c:pt>
                <c:pt idx="8">
                  <c:v>0.026</c:v>
                </c:pt>
                <c:pt idx="9">
                  <c:v>0.039</c:v>
                </c:pt>
                <c:pt idx="10">
                  <c:v>0.057</c:v>
                </c:pt>
                <c:pt idx="11">
                  <c:v>0.081</c:v>
                </c:pt>
                <c:pt idx="12">
                  <c:v>0.111</c:v>
                </c:pt>
                <c:pt idx="13">
                  <c:v>0.148</c:v>
                </c:pt>
                <c:pt idx="14">
                  <c:v>0.191</c:v>
                </c:pt>
                <c:pt idx="15">
                  <c:v>0.238</c:v>
                </c:pt>
                <c:pt idx="16">
                  <c:v>0.285</c:v>
                </c:pt>
                <c:pt idx="17">
                  <c:v>0.329</c:v>
                </c:pt>
                <c:pt idx="18">
                  <c:v>0.364</c:v>
                </c:pt>
                <c:pt idx="19">
                  <c:v>0.388</c:v>
                </c:pt>
                <c:pt idx="20">
                  <c:v>0.396</c:v>
                </c:pt>
                <c:pt idx="21">
                  <c:v>0.388</c:v>
                </c:pt>
                <c:pt idx="22">
                  <c:v>0.364</c:v>
                </c:pt>
                <c:pt idx="23">
                  <c:v>0.329</c:v>
                </c:pt>
                <c:pt idx="24">
                  <c:v>0.285</c:v>
                </c:pt>
                <c:pt idx="25">
                  <c:v>0.238</c:v>
                </c:pt>
                <c:pt idx="26">
                  <c:v>0.191</c:v>
                </c:pt>
                <c:pt idx="27">
                  <c:v>0.148</c:v>
                </c:pt>
                <c:pt idx="28">
                  <c:v>0.111</c:v>
                </c:pt>
                <c:pt idx="29">
                  <c:v>0.081</c:v>
                </c:pt>
                <c:pt idx="30">
                  <c:v>0.057</c:v>
                </c:pt>
                <c:pt idx="31">
                  <c:v>0.039</c:v>
                </c:pt>
                <c:pt idx="32">
                  <c:v>0.026</c:v>
                </c:pt>
                <c:pt idx="33">
                  <c:v>0.017</c:v>
                </c:pt>
                <c:pt idx="34">
                  <c:v>0.011</c:v>
                </c:pt>
                <c:pt idx="35">
                  <c:v>0.007</c:v>
                </c:pt>
                <c:pt idx="36">
                  <c:v>0.004</c:v>
                </c:pt>
                <c:pt idx="37">
                  <c:v>0.003</c:v>
                </c:pt>
                <c:pt idx="38">
                  <c:v>0.002</c:v>
                </c:pt>
                <c:pt idx="39">
                  <c:v>0.001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Values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Probability Density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to make evidence-based decisions about population claims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Machine Learning · Hypothesis Testing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Hypothesis Testing?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82296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490472"/>
            <a:ext cx="3858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method used to determine whether there is enough evidence in a sample to support or reject a claim about a population.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42032"/>
            <a:ext cx="82296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3347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889504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helps us decide whether a claim is true or false using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Applications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600200"/>
            <a:ext cx="347472" cy="347472"/>
          </a:xfrm>
          <a:prstGeom prst="ellipse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6002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if a new drug is effective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2011680"/>
            <a:ext cx="347472" cy="347472"/>
          </a:xfrm>
          <a:prstGeom prst="ellipse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011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if a teaching method improves scores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423160"/>
            <a:ext cx="347472" cy="347472"/>
          </a:xfrm>
          <a:prstGeom prst="ellipse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23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if manufacturing meets quality standards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834640"/>
            <a:ext cx="347472" cy="347472"/>
          </a:xfrm>
          <a:prstGeom prst="ellipse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28346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if a marketing campaign increases sales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Idea: We never prove a hypothesis — we only find evidence to support or reject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 Steps of Hypothesis Testing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434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61872"/>
            <a:ext cx="438912" cy="43891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61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161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the Hypotheses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H₀ (null) and H₁ (alternative)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434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176272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075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Significance Level (α)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α = 0.05 or α = 0.01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434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090672"/>
            <a:ext cx="438912" cy="438912"/>
          </a:xfrm>
          <a:prstGeom prst="ellipse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090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2990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328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sample data from the population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434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4005072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05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3904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Test Statistic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Z-test or T-test formula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1097280"/>
            <a:ext cx="4434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84648" y="1261872"/>
            <a:ext cx="438912" cy="43891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1261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33288" y="1161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p-value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3328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this result if H₀ is true?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2011680"/>
            <a:ext cx="4434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84648" y="2176272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33288" y="2075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 Decision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33288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α → Reject H₀   |   p ≥ α → Fail to Reject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74920" y="2926080"/>
            <a:ext cx="4434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184648" y="3090672"/>
            <a:ext cx="438912" cy="438912"/>
          </a:xfrm>
          <a:prstGeom prst="ellipse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4648" y="3090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33288" y="2990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a Conclusion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33288" y="3328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finding in plain language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 — Process Flowchart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47472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trying to find out?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550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755648"/>
            <a:ext cx="347472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7556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H₀ and H₁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075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and Alternative Hypotheses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3591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459736"/>
            <a:ext cx="3474720" cy="5943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459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from the population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163824"/>
            <a:ext cx="3474720" cy="59436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1638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Test Statistic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4838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or T-test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7673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3867912"/>
            <a:ext cx="3474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867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p-value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1879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result under H₀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097280"/>
            <a:ext cx="393192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097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 Decision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1874520"/>
            <a:ext cx="1828800" cy="73152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874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H₀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49440" y="1874520"/>
            <a:ext cx="1828800" cy="731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1874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≥ 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to Reject H₀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17099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46320" y="2788920"/>
            <a:ext cx="3931920" cy="6400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a 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31089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your finding in plain language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 Scores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3950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claims students score avg = 70 marks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83480" y="4251960"/>
            <a:ext cx="164592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4251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H₀: μ = 70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20840" y="4251960"/>
            <a:ext cx="19202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2519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H₁: μ ≠ 70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State the Hypotheses: H₀ and H₁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200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  Null Hypothesis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1148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there is NO effect,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difference, 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default assumption.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 it is true until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proves otherwise.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3749040" cy="6400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649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"The drug has NO effect"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H₀: μ = 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3200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 Alternative Hypothesis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41148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71907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there IS an effect,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difference, 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relationship.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560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trying to prove.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evidence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this claim.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364992"/>
            <a:ext cx="374904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3649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"The drug HAS an effect"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H₁: μ ≠ 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62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We NEVER prove H₀ true — we either Reject H₀ or Fail to Reject H₀.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p-Value?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82296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490472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is the probability of obtaining a result as extreme as the observed result, assuming the null hypothesis is true.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9631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96312"/>
            <a:ext cx="82296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8775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843784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tells us how surprising our result is. A small p-value means our result is very unlikely under H₀.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3749040" cy="566928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 &lt; α  (e.g. 0.02 &lt; 0.05)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92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REJECT H₀ — strong evidence against 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304288"/>
            <a:ext cx="374904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 ≥ α  (e.g. 0.12 ≥ 0.05)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5968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FAIL TO REJECT H₀ — weak evidence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999232"/>
            <a:ext cx="3749040" cy="56692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99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 = 0.02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273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&lt; 0.05  →  Reject H₀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94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 Level (α): The threshold we set before testing. Common values: α = 0.05 (5%) or α = 0.01 (1%).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 — Rejection Region on the Normal Curve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8229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251960"/>
            <a:ext cx="274320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(orange shaded area)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4251960"/>
            <a:ext cx="2743200" cy="64008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Rejection Region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(α/2 = 2.5% each side)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4251960"/>
            <a:ext cx="2743200" cy="6400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Statistic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−1.77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1B3E">
              <a:alpha val="20000"/>
            </a:srgbClr>
          </a:solidFill>
          <a:ln w="12700">
            <a:solidFill>
              <a:srgbClr val="0D1B3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Z-Test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population standard deviation is known and n ≥ 30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Z-Test — Definition &amp; Formula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82296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490472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Z-test is used to test hypotheses about population means when the population standard deviation is known and sample size is large (n ≥ 30).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9631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96312"/>
            <a:ext cx="82296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8775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843784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Z-test compares a sample with a population when we know the population information.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023360" cy="2468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1887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Z-Test Formula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572768"/>
            <a:ext cx="40233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91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 =  (X̄ − μ) / (σ / √n)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2377440"/>
            <a:ext cx="3749040" cy="111556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32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4323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Sample mean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68833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26883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Population mean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944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944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Population standard deviation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200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200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Sample size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94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Z-Test:  ✅ Population σ is KNOWN     ✅ Sample size n ≥ 30     ✅ Data is approximately normal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Z-Test Worked Example — Battery Life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company claims average battery life = 10 hrs.  Sample: n=50, X̄=9.5, σ=2.  Test at α = 0.05.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920240" cy="2560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50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= 9.5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0.05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828800"/>
            <a:ext cx="15087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304288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H₀: μ = 10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H₁: μ ≠ 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42232" y="182880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42232" y="1828800"/>
            <a:ext cx="1508760" cy="41148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Statistic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33672" y="2304288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(9.5−10)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/ (2/√50)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−0.5 / 0.283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33672" y="3611880"/>
            <a:ext cx="1325880" cy="5486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36118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−1.77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9864" y="182880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9864" y="1828800"/>
            <a:ext cx="15087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9864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61304" y="2304288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0.05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Two-tailed: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Z = ±1.96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97496" y="182880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97496" y="1828800"/>
            <a:ext cx="1508760" cy="4114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97496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88936" y="2304288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−1.77 lies between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−1.96 and +1.96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88936" y="3611880"/>
            <a:ext cx="1325880" cy="5486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88936" y="36118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to Reject H₀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Conclusion: Not enough evidence that battery life differs from 10 hours.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1B3E">
              <a:alpha val="20000"/>
            </a:srgbClr>
          </a:solidFill>
          <a:ln w="12700">
            <a:solidFill>
              <a:srgbClr val="0D1B3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t-Distribution &amp; T-Test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population standard deviation is unknown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t-Distribution — Definition &amp; Properties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82296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490472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distribution used when the population standard deviation is unknown and sample sizes are small.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9631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96312"/>
            <a:ext cx="82296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8775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843784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normal distribution but with wider tails — accounts for extra uncertainty when we don't know the population σ.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581912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81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158191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and bell-shaped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929384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929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192938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tails than normal distribution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27685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76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227685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degrees of freedom (df = n−1)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62432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624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62432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df increases → approaches normal distribution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97180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9718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σ is unknown and n is small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94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Degrees of Freedom:  df = n − 1     Example: n = 10  →  df = 9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t-Distribution vs Normal Distribution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8229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343400"/>
            <a:ext cx="2743200" cy="5486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343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df (e.g. 5)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Wider, heavier tails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4343400"/>
            <a:ext cx="27432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4343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df (e.g. 30)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Approaches normal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434340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4343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Normal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Narrowest tails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T-Test — Definition &amp; Types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82296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8156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490472"/>
            <a:ext cx="8156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T-test tests hypotheses about means when the population standard deviation is UNKNOWN. Use when you have a small sample and do not know σ.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03120"/>
            <a:ext cx="269748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1️⃣  One-Sample T-Test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6334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 sample mean with a known population mean.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Is my sample different from the population?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3657600"/>
            <a:ext cx="2468880" cy="502920"/>
          </a:xfrm>
          <a:prstGeom prst="rect">
            <a:avLst/>
          </a:prstGeom>
          <a:solidFill>
            <a:srgbClr val="0D1B3E">
              <a:alpha val="2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Is student avg score ≠ 70?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4251960"/>
            <a:ext cx="246888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(X̄ − μ) / (s / √n)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21031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2103120"/>
            <a:ext cx="26974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2️⃣  Independent T-Test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6334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means from two separate, unrelated groups.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Are these two groups different from each other?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657600"/>
            <a:ext cx="2468880" cy="50292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Do boys and girls score differently?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4251960"/>
            <a:ext cx="24688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(X̄ − μ) / (s / √n)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9904" y="21031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103120"/>
            <a:ext cx="2697480" cy="45720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3️⃣  Paired T-Test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26334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means from the same group measured twice.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Did this group change before vs after?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3657600"/>
            <a:ext cx="2468880" cy="502920"/>
          </a:xfrm>
          <a:prstGeom prst="rect">
            <a:avLst/>
          </a:prstGeom>
          <a:solidFill>
            <a:srgbClr val="E05C3A">
              <a:alpha val="20000"/>
            </a:srgbClr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Did scores improve after training?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9632" y="4251960"/>
            <a:ext cx="2468880" cy="45720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(X̄ − μ) / (s / √n)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T-Test Worked Example — Student Scores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claims students score avg = 70.  Sample: n=10, X̄=65, s=8.  Test at α = 0.05.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920240" cy="2651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= 65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0.05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120700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828800"/>
            <a:ext cx="120700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8288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2267712"/>
            <a:ext cx="10789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H₀: μ = 70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H₁: μ ≠ 70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22192" y="1828800"/>
            <a:ext cx="120700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1828800"/>
            <a:ext cx="1207008" cy="384048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8288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2267712"/>
            <a:ext cx="10789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(65−70)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/ (8/√10)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−5 / 2.53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3566160"/>
            <a:ext cx="1078992" cy="68580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356616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−1.98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9784" y="1828800"/>
            <a:ext cx="120700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9784" y="1828800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784" y="18288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of Freedom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2267712"/>
            <a:ext cx="10789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 = n − 1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 = 10 − 1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93792" y="3566160"/>
            <a:ext cx="1078992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356616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 = 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37376" y="1828800"/>
            <a:ext cx="120700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7376" y="1828800"/>
            <a:ext cx="1207008" cy="3840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18288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01384" y="2267712"/>
            <a:ext cx="10789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α=0.05, df=9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±2.262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44968" y="1828800"/>
            <a:ext cx="120700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44968" y="1828800"/>
            <a:ext cx="1207008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44968" y="18288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08976" y="2267712"/>
            <a:ext cx="10789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−1.98 lies between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−2.262 and +2.262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08976" y="3566160"/>
            <a:ext cx="1078992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08976" y="356616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to Reject H₀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Conclusion: Not enough evidence that average score differs from 70.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Z-Test vs T-Test — When to Use Which?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8932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35608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356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0" y="1435608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4356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 (n ≥ 30)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435608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4356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 (n &lt; 30)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002536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025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Variance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54680" y="2002536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0025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(σ is given)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002536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0025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(use 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569464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694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Used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54680" y="2569464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5694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Normal (Z)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2569464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5694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t-Distribution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136392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363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54680" y="3136392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31363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needed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3136392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1363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 = n − 1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27432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03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54680" y="370332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3703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(X̄−μ) / (σ/√n)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0" y="370332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703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(X̄−μ) / (s/√n)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CCF0E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3434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Rule: Know σ and n≥30? → Use Z-Test.   Don't know σ or small sample? → Use T-Test.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7899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helps us make evidence-based decisions using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0391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 Hypothesis) states no effect. H₁ (Alternative) states there is an effect.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9992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measures how surprising our result is under H₀.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9593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&lt; α → Reject H₀.   If p ≥ α → Fail to Reject H₀.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107899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Z-test when σ is known and sample size n ≥ 30.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20391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T-test when σ is unknown or sample size is small.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9992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t-distribution has wider tails than the normal distribution.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39593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sample size increases, the t-distribution approaches the normal distribution.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</dc:title>
  <dc:subject>PptxGenJS Presentation</dc:subject>
  <dc:creator>PptxGenJS</dc:creator>
  <cp:lastModifiedBy>PptxGenJS</cp:lastModifiedBy>
  <cp:revision>1</cp:revision>
  <dcterms:created xsi:type="dcterms:W3CDTF">2026-06-12T14:57:59Z</dcterms:created>
  <dcterms:modified xsi:type="dcterms:W3CDTF">2026-06-12T14:57:59Z</dcterms:modified>
</cp:coreProperties>
</file>